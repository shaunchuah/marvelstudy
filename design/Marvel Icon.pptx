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2" r:id="rId2"/>
    <p:sldId id="268" r:id="rId3"/>
    <p:sldId id="277" r:id="rId4"/>
    <p:sldId id="278" r:id="rId5"/>
    <p:sldId id="259" r:id="rId6"/>
    <p:sldId id="279" r:id="rId7"/>
    <p:sldId id="269" r:id="rId8"/>
    <p:sldId id="27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CD03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5"/>
  </p:normalViewPr>
  <p:slideViewPr>
    <p:cSldViewPr snapToGrid="0" snapToObjects="1">
      <p:cViewPr varScale="1">
        <p:scale>
          <a:sx n="103" d="100"/>
          <a:sy n="103" d="100"/>
        </p:scale>
        <p:origin x="704" y="1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2C0CD-0C98-644B-B761-F97DDC04F59E}" type="datetimeFigureOut">
              <a:rPr lang="en-US" smtClean="0"/>
              <a:t>8/12/25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95360-1F99-294C-8035-A5B459103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608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080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46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66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853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659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72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648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92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792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767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E1D56B-60CF-8C4B-97C0-D25BCDB18721}" type="datetimeFigureOut">
              <a:rPr lang="en-US" smtClean="0"/>
              <a:t>8/12/25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AEBB45-930F-0A41-9A87-F3F5E71C1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546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569269" y="1896946"/>
            <a:ext cx="2193734" cy="1913477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Helvetica Neue"/>
                <a:cs typeface="Helvetica Neue"/>
              </a:rPr>
              <a:t>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5998" y="2085349"/>
            <a:ext cx="2541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dirty="0">
                <a:latin typeface="Helvetica Neue"/>
                <a:cs typeface="Helvetica Neue"/>
              </a:rPr>
              <a:t>r</a:t>
            </a:r>
            <a:r>
              <a:rPr lang="en-US" sz="9600" b="1" dirty="0">
                <a:latin typeface="Helvetica Neue"/>
                <a:cs typeface="Helvetica Neue"/>
              </a:rPr>
              <a:t>v</a:t>
            </a:r>
            <a:r>
              <a:rPr lang="en-US" sz="9600" b="1" dirty="0">
                <a:solidFill>
                  <a:srgbClr val="008000"/>
                </a:solidFill>
                <a:latin typeface="Helvetica Neue"/>
                <a:cs typeface="Helvetica Neue"/>
              </a:rPr>
              <a:t>e</a:t>
            </a:r>
            <a:r>
              <a:rPr lang="en-US" sz="9600" b="1" dirty="0">
                <a:latin typeface="Helvetica Neue"/>
                <a:cs typeface="Helvetica Neue"/>
              </a:rPr>
              <a:t>l</a:t>
            </a:r>
            <a:endParaRPr lang="en-US" sz="9600" b="1" i="1" dirty="0">
              <a:latin typeface="Helvetica Neue"/>
              <a:cs typeface="Helvetica Neue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485460" y="4031173"/>
            <a:ext cx="5625896" cy="748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M</a:t>
            </a:r>
            <a:r>
              <a:rPr lang="en-US" sz="3200" b="1" baseline="30000" dirty="0">
                <a:latin typeface="Helvetica Neue"/>
                <a:cs typeface="Helvetica Neue"/>
              </a:rPr>
              <a:t>itochondrial </a:t>
            </a:r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A</a:t>
            </a:r>
            <a:r>
              <a:rPr lang="en-US" sz="3200" b="1" baseline="30000" dirty="0">
                <a:latin typeface="Helvetica Neue"/>
                <a:cs typeface="Helvetica Neue"/>
              </a:rPr>
              <a:t>nti-oxidant therapy to </a:t>
            </a:r>
          </a:p>
          <a:p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R</a:t>
            </a:r>
            <a:r>
              <a:rPr lang="en-US" sz="3200" b="1" baseline="30000" dirty="0">
                <a:latin typeface="Helvetica Neue"/>
                <a:cs typeface="Helvetica Neue"/>
              </a:rPr>
              <a:t>esol</a:t>
            </a:r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ve</a:t>
            </a:r>
            <a:r>
              <a:rPr lang="en-US" sz="3200" b="1" baseline="30000" dirty="0">
                <a:latin typeface="Helvetica Neue"/>
                <a:cs typeface="Helvetica Neue"/>
              </a:rPr>
              <a:t> Inflammation in U</a:t>
            </a:r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l</a:t>
            </a:r>
            <a:r>
              <a:rPr lang="en-US" sz="3200" b="1" baseline="30000" dirty="0">
                <a:latin typeface="Helvetica Neue"/>
                <a:cs typeface="Helvetica Neue"/>
              </a:rPr>
              <a:t>cerative Colitis </a:t>
            </a:r>
          </a:p>
        </p:txBody>
      </p:sp>
    </p:spTree>
    <p:extLst>
      <p:ext uri="{BB962C8B-B14F-4D97-AF65-F5344CB8AC3E}">
        <p14:creationId xmlns:p14="http://schemas.microsoft.com/office/powerpoint/2010/main" val="967838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569269" y="1896946"/>
            <a:ext cx="2193734" cy="1913477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Helvetica Neue"/>
                <a:cs typeface="Helvetica Neue"/>
              </a:rPr>
              <a:t>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5998" y="2085349"/>
            <a:ext cx="2541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dirty="0">
                <a:latin typeface="Helvetica Neue"/>
                <a:cs typeface="Helvetica Neue"/>
              </a:rPr>
              <a:t>r</a:t>
            </a:r>
            <a:r>
              <a:rPr lang="en-US" sz="9600" b="1" dirty="0">
                <a:latin typeface="Helvetica Neue"/>
                <a:cs typeface="Helvetica Neue"/>
              </a:rPr>
              <a:t>v</a:t>
            </a:r>
            <a:r>
              <a:rPr lang="en-US" sz="9600" b="1" dirty="0">
                <a:solidFill>
                  <a:srgbClr val="008000"/>
                </a:solidFill>
                <a:latin typeface="Helvetica Neue"/>
                <a:cs typeface="Helvetica Neue"/>
              </a:rPr>
              <a:t>e</a:t>
            </a:r>
            <a:r>
              <a:rPr lang="en-US" sz="9600" b="1" dirty="0">
                <a:latin typeface="Helvetica Neue"/>
                <a:cs typeface="Helvetica Neue"/>
              </a:rPr>
              <a:t>l</a:t>
            </a:r>
            <a:endParaRPr lang="en-US" sz="9600" b="1" i="1" dirty="0">
              <a:latin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840140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F1C727-F5F4-5DCA-5963-FF013FBAB009}"/>
              </a:ext>
            </a:extLst>
          </p:cNvPr>
          <p:cNvSpPr/>
          <p:nvPr/>
        </p:nvSpPr>
        <p:spPr>
          <a:xfrm>
            <a:off x="2492128" y="2581209"/>
            <a:ext cx="2507005" cy="15696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8000" b="1" dirty="0">
                <a:solidFill>
                  <a:schemeClr val="tx1"/>
                </a:solidFill>
                <a:latin typeface="Kristen ITC" panose="03050502040202030202" pitchFamily="66" charset="0"/>
                <a:cs typeface="Helvetica Neue"/>
              </a:rPr>
              <a:t>mini-</a:t>
            </a:r>
            <a:endParaRPr lang="en-US" sz="6000" b="1" dirty="0">
              <a:solidFill>
                <a:schemeClr val="tx1"/>
              </a:solidFill>
              <a:latin typeface="Kristen ITC" panose="03050502040202030202" pitchFamily="66" charset="0"/>
              <a:cs typeface="Helvetica Neue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D5C2C5-ED51-D1E7-C994-3841B4FF9B53}"/>
              </a:ext>
            </a:extLst>
          </p:cNvPr>
          <p:cNvSpPr/>
          <p:nvPr/>
        </p:nvSpPr>
        <p:spPr>
          <a:xfrm>
            <a:off x="4999133" y="2336443"/>
            <a:ext cx="2193734" cy="1913477"/>
          </a:xfrm>
          <a:prstGeom prst="rect">
            <a:avLst/>
          </a:prstGeom>
          <a:solidFill>
            <a:srgbClr val="008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Helvetica Neue"/>
                <a:cs typeface="Helvetica Neue"/>
              </a:rPr>
              <a:t>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2EB7-2967-FB3F-28B7-22928D0F905D}"/>
              </a:ext>
            </a:extLst>
          </p:cNvPr>
          <p:cNvSpPr txBox="1"/>
          <p:nvPr/>
        </p:nvSpPr>
        <p:spPr>
          <a:xfrm>
            <a:off x="7225862" y="2524846"/>
            <a:ext cx="2541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dirty="0">
                <a:latin typeface="Helvetica Neue"/>
                <a:cs typeface="Helvetica Neue"/>
              </a:rPr>
              <a:t>r</a:t>
            </a:r>
            <a:r>
              <a:rPr lang="en-US" sz="9600" b="1" dirty="0">
                <a:latin typeface="Helvetica Neue"/>
                <a:cs typeface="Helvetica Neue"/>
              </a:rPr>
              <a:t>v</a:t>
            </a:r>
            <a:r>
              <a:rPr lang="en-US" sz="9600" b="1" dirty="0">
                <a:solidFill>
                  <a:srgbClr val="008000"/>
                </a:solidFill>
                <a:latin typeface="Helvetica Neue"/>
                <a:cs typeface="Helvetica Neue"/>
              </a:rPr>
              <a:t>e</a:t>
            </a:r>
            <a:r>
              <a:rPr lang="en-US" sz="9600" b="1" dirty="0">
                <a:latin typeface="Helvetica Neue"/>
                <a:cs typeface="Helvetica Neue"/>
              </a:rPr>
              <a:t>l</a:t>
            </a:r>
            <a:endParaRPr lang="en-US" sz="9600" b="1" i="1" dirty="0">
              <a:latin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31226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9359" y="4751915"/>
            <a:ext cx="2193734" cy="1913477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Helvetica Neue"/>
                <a:cs typeface="Helvetica Neue"/>
              </a:rPr>
              <a:t>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6088" y="4940318"/>
            <a:ext cx="2541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dirty="0">
                <a:latin typeface="Helvetica Neue"/>
                <a:cs typeface="Helvetica Neue"/>
              </a:rPr>
              <a:t>r</a:t>
            </a:r>
            <a:r>
              <a:rPr lang="en-US" sz="9600" b="1" dirty="0">
                <a:latin typeface="Helvetica Neue"/>
                <a:cs typeface="Helvetica Neue"/>
              </a:rPr>
              <a:t>v</a:t>
            </a:r>
            <a:r>
              <a:rPr lang="en-US" sz="9600" b="1" dirty="0">
                <a:solidFill>
                  <a:srgbClr val="008000"/>
                </a:solidFill>
                <a:latin typeface="Helvetica Neue"/>
                <a:cs typeface="Helvetica Neue"/>
              </a:rPr>
              <a:t>e</a:t>
            </a:r>
            <a:r>
              <a:rPr lang="en-US" sz="9600" b="1" dirty="0">
                <a:latin typeface="Helvetica Neue"/>
                <a:cs typeface="Helvetica Neue"/>
              </a:rPr>
              <a:t>l</a:t>
            </a:r>
            <a:endParaRPr lang="en-US" sz="9600" b="1" i="1" dirty="0">
              <a:latin typeface="Helvetica Neue"/>
              <a:cs typeface="Helvetica Neue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1DDE89-0F2C-4E09-E841-E03DB1B9535A}"/>
              </a:ext>
            </a:extLst>
          </p:cNvPr>
          <p:cNvSpPr/>
          <p:nvPr/>
        </p:nvSpPr>
        <p:spPr>
          <a:xfrm>
            <a:off x="5065173" y="4996681"/>
            <a:ext cx="2507005" cy="15696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8000" b="1" dirty="0">
                <a:solidFill>
                  <a:schemeClr val="tx1"/>
                </a:solidFill>
                <a:latin typeface="Kristen ITC" panose="03050502040202030202" pitchFamily="66" charset="0"/>
                <a:cs typeface="Helvetica Neue"/>
              </a:rPr>
              <a:t>mini-</a:t>
            </a:r>
            <a:endParaRPr lang="en-US" sz="6000" b="1" dirty="0">
              <a:solidFill>
                <a:schemeClr val="tx1"/>
              </a:solidFill>
              <a:latin typeface="Kristen ITC" panose="03050502040202030202" pitchFamily="66" charset="0"/>
              <a:cs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E9502-05AB-1B1A-F31A-343E0F847DBA}"/>
              </a:ext>
            </a:extLst>
          </p:cNvPr>
          <p:cNvSpPr/>
          <p:nvPr/>
        </p:nvSpPr>
        <p:spPr>
          <a:xfrm>
            <a:off x="7572178" y="4751915"/>
            <a:ext cx="2193734" cy="1913477"/>
          </a:xfrm>
          <a:prstGeom prst="rect">
            <a:avLst/>
          </a:prstGeom>
          <a:solidFill>
            <a:srgbClr val="008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Helvetica Neue"/>
                <a:cs typeface="Helvetica Neue"/>
              </a:rPr>
              <a:t>Ma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4ABDA-D7B0-2B87-E15C-3D186A5DF444}"/>
              </a:ext>
            </a:extLst>
          </p:cNvPr>
          <p:cNvSpPr txBox="1"/>
          <p:nvPr/>
        </p:nvSpPr>
        <p:spPr>
          <a:xfrm>
            <a:off x="9798908" y="4940318"/>
            <a:ext cx="236009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dirty="0">
                <a:latin typeface="Helvetica Neue"/>
                <a:cs typeface="Helvetica Neue"/>
              </a:rPr>
              <a:t>r</a:t>
            </a:r>
            <a:r>
              <a:rPr lang="en-US" sz="9600" b="1" dirty="0">
                <a:latin typeface="Helvetica Neue"/>
                <a:cs typeface="Helvetica Neue"/>
              </a:rPr>
              <a:t>v</a:t>
            </a:r>
            <a:r>
              <a:rPr lang="en-US" sz="9600" b="1" dirty="0">
                <a:solidFill>
                  <a:srgbClr val="008000"/>
                </a:solidFill>
                <a:latin typeface="Helvetica Neue"/>
                <a:cs typeface="Helvetica Neue"/>
              </a:rPr>
              <a:t>e</a:t>
            </a:r>
            <a:r>
              <a:rPr lang="en-US" sz="9600" b="1" dirty="0">
                <a:latin typeface="Helvetica Neue"/>
                <a:cs typeface="Helvetica Neue"/>
              </a:rPr>
              <a:t>l</a:t>
            </a:r>
            <a:endParaRPr lang="en-US" sz="9600" b="1" i="1" dirty="0">
              <a:latin typeface="Helvetica Neue"/>
              <a:cs typeface="Helvetica Neue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DCE88D-71F3-AD64-FFE3-7BE4B2F412D7}"/>
              </a:ext>
            </a:extLst>
          </p:cNvPr>
          <p:cNvSpPr/>
          <p:nvPr/>
        </p:nvSpPr>
        <p:spPr>
          <a:xfrm>
            <a:off x="1" y="-57357"/>
            <a:ext cx="12192000" cy="451485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0344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/>
          <p:cNvCxnSpPr/>
          <p:nvPr/>
        </p:nvCxnSpPr>
        <p:spPr>
          <a:xfrm flipV="1">
            <a:off x="3067051" y="3078009"/>
            <a:ext cx="6886575" cy="2055"/>
          </a:xfrm>
          <a:prstGeom prst="straightConnector1">
            <a:avLst/>
          </a:prstGeom>
          <a:ln w="762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864519" y="4150595"/>
            <a:ext cx="1627369" cy="715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b="1" dirty="0">
                <a:latin typeface="Helvetica Neue"/>
                <a:sym typeface="Symbol" panose="05050102010706020507" pitchFamily="18" charset="2"/>
              </a:rPr>
              <a:t>Primary Endpoint</a:t>
            </a:r>
          </a:p>
          <a:p>
            <a:r>
              <a:rPr lang="en-GB" sz="1350" dirty="0">
                <a:latin typeface="Helvetica Neue"/>
              </a:rPr>
              <a:t>Clinical response</a:t>
            </a:r>
          </a:p>
          <a:p>
            <a:r>
              <a:rPr lang="en-GB" sz="1350" dirty="0">
                <a:latin typeface="Helvetica Neue"/>
              </a:rPr>
              <a:t>Full Mayo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5376" y="4145070"/>
            <a:ext cx="1867819" cy="7155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b="1" dirty="0">
                <a:latin typeface="Helvetica Neue"/>
              </a:rPr>
              <a:t>Secondary </a:t>
            </a:r>
            <a:r>
              <a:rPr lang="en-GB" sz="1350" b="1" dirty="0">
                <a:latin typeface="Helvetica Neue"/>
                <a:sym typeface="Symbol" panose="05050102010706020507" pitchFamily="18" charset="2"/>
              </a:rPr>
              <a:t>Endpoint</a:t>
            </a:r>
          </a:p>
          <a:p>
            <a:r>
              <a:rPr lang="en-GB" sz="1350" dirty="0">
                <a:latin typeface="Helvetica Neue"/>
              </a:rPr>
              <a:t>Clinical remission</a:t>
            </a:r>
          </a:p>
          <a:p>
            <a:r>
              <a:rPr lang="en-GB" sz="1350" dirty="0">
                <a:latin typeface="Helvetica Neue"/>
              </a:rPr>
              <a:t>Treatment escalation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3973" y="2726225"/>
            <a:ext cx="55114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008000"/>
                </a:solidFill>
                <a:latin typeface="Helvetica Neue"/>
              </a:rPr>
              <a:t>Mitochondrial antioxidant vs placebo (24 weeks duration)</a:t>
            </a:r>
            <a:endParaRPr lang="en-GB" sz="1400" b="1" dirty="0">
              <a:latin typeface="Helvetica Neue"/>
              <a:sym typeface="Symbol" panose="05050102010706020507" pitchFamily="18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05670" y="1911363"/>
            <a:ext cx="1451038" cy="46166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Helvetica Neue"/>
                <a:sym typeface="Symbol" panose="05050102010706020507" pitchFamily="18" charset="2"/>
              </a:rPr>
              <a:t>UC Flare</a:t>
            </a:r>
          </a:p>
        </p:txBody>
      </p:sp>
      <p:cxnSp>
        <p:nvCxnSpPr>
          <p:cNvPr id="13" name="Straight Connector 12"/>
          <p:cNvCxnSpPr>
            <a:cxnSpLocks/>
          </p:cNvCxnSpPr>
          <p:nvPr/>
        </p:nvCxnSpPr>
        <p:spPr>
          <a:xfrm>
            <a:off x="3067051" y="3206839"/>
            <a:ext cx="1212849" cy="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35627" y="3852342"/>
            <a:ext cx="798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8</a:t>
            </a:r>
          </a:p>
        </p:txBody>
      </p:sp>
      <p:cxnSp>
        <p:nvCxnSpPr>
          <p:cNvPr id="17" name="Straight Connector 16"/>
          <p:cNvCxnSpPr>
            <a:cxnSpLocks/>
          </p:cNvCxnSpPr>
          <p:nvPr/>
        </p:nvCxnSpPr>
        <p:spPr>
          <a:xfrm>
            <a:off x="1692876" y="3080064"/>
            <a:ext cx="1314811" cy="0"/>
          </a:xfrm>
          <a:prstGeom prst="line">
            <a:avLst/>
          </a:prstGeom>
          <a:ln w="76200">
            <a:solidFill>
              <a:srgbClr val="008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cxnSpLocks/>
          </p:cNvCxnSpPr>
          <p:nvPr/>
        </p:nvCxnSpPr>
        <p:spPr>
          <a:xfrm>
            <a:off x="3104014" y="3558491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5124548" y="3574708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6313488" y="3574708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/>
        </p:nvCxnSpPr>
        <p:spPr>
          <a:xfrm>
            <a:off x="8991600" y="3565183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605670" y="2496530"/>
            <a:ext cx="10438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008000"/>
                </a:solidFill>
                <a:latin typeface="Helvetica Neue"/>
              </a:rPr>
              <a:t>Screening</a:t>
            </a:r>
          </a:p>
          <a:p>
            <a:r>
              <a:rPr lang="en-GB" sz="1400" b="1" dirty="0">
                <a:solidFill>
                  <a:srgbClr val="008000"/>
                </a:solidFill>
                <a:latin typeface="Helvetica Neue"/>
              </a:rPr>
              <a:t>(4 weeks)</a:t>
            </a:r>
          </a:p>
        </p:txBody>
      </p:sp>
      <p:cxnSp>
        <p:nvCxnSpPr>
          <p:cNvPr id="28" name="Straight Connector 27"/>
          <p:cNvCxnSpPr>
            <a:cxnSpLocks/>
          </p:cNvCxnSpPr>
          <p:nvPr/>
        </p:nvCxnSpPr>
        <p:spPr>
          <a:xfrm>
            <a:off x="4191212" y="3206839"/>
            <a:ext cx="1022024" cy="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9092CA0-D2E9-44A7-B025-6CDDAAA1A48F}"/>
              </a:ext>
            </a:extLst>
          </p:cNvPr>
          <p:cNvSpPr txBox="1"/>
          <p:nvPr/>
        </p:nvSpPr>
        <p:spPr>
          <a:xfrm>
            <a:off x="2704738" y="3842818"/>
            <a:ext cx="798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6DBEE7-487D-4484-BFBE-A2A0C1026283}"/>
              </a:ext>
            </a:extLst>
          </p:cNvPr>
          <p:cNvSpPr txBox="1"/>
          <p:nvPr/>
        </p:nvSpPr>
        <p:spPr>
          <a:xfrm>
            <a:off x="5864519" y="3849826"/>
            <a:ext cx="897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A88243-9A9C-42AA-BF15-4351968AE3E6}"/>
              </a:ext>
            </a:extLst>
          </p:cNvPr>
          <p:cNvSpPr txBox="1"/>
          <p:nvPr/>
        </p:nvSpPr>
        <p:spPr>
          <a:xfrm>
            <a:off x="8542631" y="3847401"/>
            <a:ext cx="897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24</a:t>
            </a:r>
          </a:p>
        </p:txBody>
      </p:sp>
      <p:pic>
        <p:nvPicPr>
          <p:cNvPr id="16" name="Picture 15" descr="A green and white sign&#10;&#10;Description automatically generated with medium confidence">
            <a:extLst>
              <a:ext uri="{FF2B5EF4-FFF2-40B4-BE49-F238E27FC236}">
                <a16:creationId xmlns:a16="http://schemas.microsoft.com/office/drawing/2014/main" id="{AE85391A-382E-42A8-BCB5-236FBEE25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952" y="1851881"/>
            <a:ext cx="1238674" cy="58062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F0A2E46-5FB4-4956-8221-03DD0EC40218}"/>
              </a:ext>
            </a:extLst>
          </p:cNvPr>
          <p:cNvSpPr txBox="1"/>
          <p:nvPr/>
        </p:nvSpPr>
        <p:spPr>
          <a:xfrm>
            <a:off x="3033973" y="324507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latin typeface="Helvetica Neue"/>
              </a:rPr>
              <a:t>Oral Prednisolone 40mg </a:t>
            </a:r>
            <a:r>
              <a:rPr lang="en-GB" sz="1400" b="1" dirty="0">
                <a:latin typeface="Helvetica Neue"/>
                <a:sym typeface="Symbol" panose="05050102010706020507" pitchFamily="18" charset="2"/>
              </a:rPr>
              <a:t>(tapering by 5mg/week)</a:t>
            </a:r>
            <a:endParaRPr lang="en-GB" sz="1400" b="1" dirty="0">
              <a:solidFill>
                <a:srgbClr val="00B050"/>
              </a:solidFill>
              <a:latin typeface="Helvetica Neue"/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73200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/>
          <p:cNvCxnSpPr/>
          <p:nvPr/>
        </p:nvCxnSpPr>
        <p:spPr>
          <a:xfrm flipV="1">
            <a:off x="3067051" y="2694425"/>
            <a:ext cx="6886575" cy="2055"/>
          </a:xfrm>
          <a:prstGeom prst="straightConnector1">
            <a:avLst/>
          </a:prstGeom>
          <a:ln w="762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911978" y="3943285"/>
            <a:ext cx="162736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b="1" dirty="0">
                <a:latin typeface="Helvetica Neue"/>
                <a:sym typeface="Symbol" panose="05050102010706020507" pitchFamily="18" charset="2"/>
              </a:rPr>
              <a:t>Primary Endpoint</a:t>
            </a:r>
          </a:p>
          <a:p>
            <a:r>
              <a:rPr lang="en-GB" sz="1350" dirty="0">
                <a:latin typeface="Helvetica Neue"/>
              </a:rPr>
              <a:t>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11615" y="3943285"/>
            <a:ext cx="18678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b="1" dirty="0">
                <a:latin typeface="Helvetica Neue"/>
              </a:rPr>
              <a:t>Secondary </a:t>
            </a:r>
            <a:r>
              <a:rPr lang="en-GB" sz="1350" b="1" dirty="0">
                <a:latin typeface="Helvetica Neue"/>
                <a:sym typeface="Symbol" panose="05050102010706020507" pitchFamily="18" charset="2"/>
              </a:rPr>
              <a:t>Endpoint</a:t>
            </a:r>
          </a:p>
          <a:p>
            <a:r>
              <a:rPr lang="en-GB" sz="1350" dirty="0">
                <a:latin typeface="Helvetica Neue"/>
              </a:rPr>
              <a:t>PUCAI Score</a:t>
            </a:r>
          </a:p>
          <a:p>
            <a:r>
              <a:rPr lang="en-GB" sz="1350" dirty="0">
                <a:latin typeface="Helvetica Neue"/>
              </a:rPr>
              <a:t>Clinical Response</a:t>
            </a:r>
          </a:p>
          <a:p>
            <a:r>
              <a:rPr lang="en-GB" sz="1350" dirty="0">
                <a:latin typeface="Helvetica Neue"/>
              </a:rPr>
              <a:t>Steroid Burden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3973" y="2342641"/>
            <a:ext cx="55114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008000"/>
                </a:solidFill>
                <a:latin typeface="Helvetica Neue"/>
              </a:rPr>
              <a:t>Mitochondrial antioxidant vs placebo (24 weeks duration)</a:t>
            </a:r>
            <a:endParaRPr lang="en-GB" sz="1400" b="1" dirty="0">
              <a:latin typeface="Helvetica Neue"/>
              <a:sym typeface="Symbol" panose="05050102010706020507" pitchFamily="18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82100" y="1527779"/>
            <a:ext cx="3057247" cy="46166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2400" b="1" dirty="0">
                <a:latin typeface="Helvetica Neue"/>
                <a:sym typeface="Symbol" panose="05050102010706020507" pitchFamily="18" charset="2"/>
              </a:rPr>
              <a:t>UC Flare or new UC</a:t>
            </a:r>
          </a:p>
        </p:txBody>
      </p:sp>
      <p:cxnSp>
        <p:nvCxnSpPr>
          <p:cNvPr id="13" name="Straight Connector 12"/>
          <p:cNvCxnSpPr>
            <a:cxnSpLocks/>
          </p:cNvCxnSpPr>
          <p:nvPr/>
        </p:nvCxnSpPr>
        <p:spPr>
          <a:xfrm>
            <a:off x="3067051" y="2823255"/>
            <a:ext cx="1212849" cy="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1564650" y="2696480"/>
            <a:ext cx="1443037" cy="2918"/>
          </a:xfrm>
          <a:prstGeom prst="line">
            <a:avLst/>
          </a:prstGeom>
          <a:ln w="76200">
            <a:solidFill>
              <a:srgbClr val="008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cxnSpLocks/>
          </p:cNvCxnSpPr>
          <p:nvPr/>
        </p:nvCxnSpPr>
        <p:spPr>
          <a:xfrm>
            <a:off x="3104014" y="3189497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6313488" y="3200952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/>
        </p:nvCxnSpPr>
        <p:spPr>
          <a:xfrm>
            <a:off x="9181071" y="3189497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2100" y="2112946"/>
            <a:ext cx="13869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008000"/>
                </a:solidFill>
                <a:latin typeface="Helvetica Neue"/>
              </a:rPr>
              <a:t>Screening</a:t>
            </a:r>
          </a:p>
          <a:p>
            <a:r>
              <a:rPr lang="en-GB" sz="1400" b="1" dirty="0">
                <a:solidFill>
                  <a:srgbClr val="008000"/>
                </a:solidFill>
                <a:latin typeface="Helvetica Neue"/>
              </a:rPr>
              <a:t>(Max 2 weeks)</a:t>
            </a:r>
          </a:p>
        </p:txBody>
      </p:sp>
      <p:cxnSp>
        <p:nvCxnSpPr>
          <p:cNvPr id="28" name="Straight Connector 27"/>
          <p:cNvCxnSpPr>
            <a:cxnSpLocks/>
          </p:cNvCxnSpPr>
          <p:nvPr/>
        </p:nvCxnSpPr>
        <p:spPr>
          <a:xfrm>
            <a:off x="4191212" y="2823255"/>
            <a:ext cx="1022024" cy="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9092CA0-D2E9-44A7-B025-6CDDAAA1A48F}"/>
              </a:ext>
            </a:extLst>
          </p:cNvPr>
          <p:cNvSpPr txBox="1"/>
          <p:nvPr/>
        </p:nvSpPr>
        <p:spPr>
          <a:xfrm>
            <a:off x="2704738" y="3473824"/>
            <a:ext cx="798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6DBEE7-487D-4484-BFBE-A2A0C1026283}"/>
              </a:ext>
            </a:extLst>
          </p:cNvPr>
          <p:cNvSpPr txBox="1"/>
          <p:nvPr/>
        </p:nvSpPr>
        <p:spPr>
          <a:xfrm>
            <a:off x="5864519" y="3476070"/>
            <a:ext cx="897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A88243-9A9C-42AA-BF15-4351968AE3E6}"/>
              </a:ext>
            </a:extLst>
          </p:cNvPr>
          <p:cNvSpPr txBox="1"/>
          <p:nvPr/>
        </p:nvSpPr>
        <p:spPr>
          <a:xfrm>
            <a:off x="8732102" y="3471715"/>
            <a:ext cx="897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24</a:t>
            </a:r>
          </a:p>
        </p:txBody>
      </p:sp>
      <p:pic>
        <p:nvPicPr>
          <p:cNvPr id="16" name="Picture 15" descr="A green and white sign&#10;&#10;Description automatically generated with medium confidence">
            <a:extLst>
              <a:ext uri="{FF2B5EF4-FFF2-40B4-BE49-F238E27FC236}">
                <a16:creationId xmlns:a16="http://schemas.microsoft.com/office/drawing/2014/main" id="{AE85391A-382E-42A8-BCB5-236FBEE25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952" y="1468297"/>
            <a:ext cx="1238674" cy="58062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F0A2E46-5FB4-4956-8221-03DD0EC40218}"/>
              </a:ext>
            </a:extLst>
          </p:cNvPr>
          <p:cNvSpPr txBox="1"/>
          <p:nvPr/>
        </p:nvSpPr>
        <p:spPr>
          <a:xfrm>
            <a:off x="3033973" y="2861486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latin typeface="Helvetica Neue"/>
              </a:rPr>
              <a:t>Oral Prednisolone 40mg </a:t>
            </a:r>
            <a:r>
              <a:rPr lang="en-GB" sz="1400" b="1" dirty="0">
                <a:latin typeface="Helvetica Neue"/>
                <a:sym typeface="Symbol" panose="05050102010706020507" pitchFamily="18" charset="2"/>
              </a:rPr>
              <a:t>(tapering by 5mg/week)</a:t>
            </a:r>
            <a:endParaRPr lang="en-GB" sz="1400" b="1" dirty="0">
              <a:solidFill>
                <a:srgbClr val="00B050"/>
              </a:solidFill>
              <a:latin typeface="Helvetica Neue"/>
              <a:sym typeface="Symbol" panose="05050102010706020507" pitchFamily="18" charset="2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50574-A2C0-9559-504B-52A53697CA6E}"/>
              </a:ext>
            </a:extLst>
          </p:cNvPr>
          <p:cNvSpPr/>
          <p:nvPr/>
        </p:nvSpPr>
        <p:spPr>
          <a:xfrm>
            <a:off x="7745231" y="1490748"/>
            <a:ext cx="1017769" cy="58729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Kristen ITC" panose="03050502040202030202" pitchFamily="66" charset="0"/>
                <a:cs typeface="Helvetica Neue"/>
              </a:rPr>
              <a:t>mini-</a:t>
            </a:r>
            <a:endParaRPr lang="en-US" sz="3600" b="1" dirty="0">
              <a:solidFill>
                <a:schemeClr val="tx1"/>
              </a:solidFill>
              <a:latin typeface="Kristen ITC" panose="03050502040202030202" pitchFamily="66" charset="0"/>
              <a:cs typeface="Helvetica Neue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9B048B-25CB-59B4-2AA1-D7998F47D7BB}"/>
              </a:ext>
            </a:extLst>
          </p:cNvPr>
          <p:cNvSpPr txBox="1"/>
          <p:nvPr/>
        </p:nvSpPr>
        <p:spPr>
          <a:xfrm>
            <a:off x="3501113" y="3471833"/>
            <a:ext cx="798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BA85D08-8035-E9B2-6548-1069790422CF}"/>
              </a:ext>
            </a:extLst>
          </p:cNvPr>
          <p:cNvCxnSpPr/>
          <p:nvPr/>
        </p:nvCxnSpPr>
        <p:spPr>
          <a:xfrm>
            <a:off x="3890034" y="3194199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EBA0F7B-A92B-95C9-9B51-C8552DBAA73E}"/>
              </a:ext>
            </a:extLst>
          </p:cNvPr>
          <p:cNvSpPr txBox="1"/>
          <p:nvPr/>
        </p:nvSpPr>
        <p:spPr>
          <a:xfrm>
            <a:off x="4304288" y="3477842"/>
            <a:ext cx="798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6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2962899-45E1-78A4-1567-6CCA9BB6FEC9}"/>
              </a:ext>
            </a:extLst>
          </p:cNvPr>
          <p:cNvCxnSpPr/>
          <p:nvPr/>
        </p:nvCxnSpPr>
        <p:spPr>
          <a:xfrm>
            <a:off x="4693209" y="3200208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F302101-4AB3-2E1E-F252-873A9890F10E}"/>
              </a:ext>
            </a:extLst>
          </p:cNvPr>
          <p:cNvSpPr txBox="1"/>
          <p:nvPr/>
        </p:nvSpPr>
        <p:spPr>
          <a:xfrm>
            <a:off x="2911978" y="4925728"/>
            <a:ext cx="7222622" cy="561856"/>
          </a:xfrm>
          <a:prstGeom prst="roundRect">
            <a:avLst>
              <a:gd name="adj" fmla="val 29099"/>
            </a:avLst>
          </a:prstGeom>
          <a:solidFill>
            <a:srgbClr val="008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350" b="1" dirty="0">
                <a:solidFill>
                  <a:schemeClr val="bg1"/>
                </a:solidFill>
                <a:latin typeface="Helvetica Neue"/>
              </a:rPr>
              <a:t>Patient-Reported Outcome</a:t>
            </a:r>
            <a:endParaRPr lang="en-GB" sz="1350" b="1" dirty="0">
              <a:solidFill>
                <a:schemeClr val="bg1"/>
              </a:solidFill>
              <a:latin typeface="Helvetica Neue"/>
              <a:sym typeface="Symbol" panose="05050102010706020507" pitchFamily="18" charset="2"/>
            </a:endParaRPr>
          </a:p>
          <a:p>
            <a:pPr algn="ctr"/>
            <a:r>
              <a:rPr lang="en-GB" sz="1350" dirty="0">
                <a:solidFill>
                  <a:schemeClr val="bg1"/>
                </a:solidFill>
                <a:latin typeface="Helvetica Neue"/>
              </a:rPr>
              <a:t>TUMMY-UC Score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2378D31-4E60-A941-7E81-FB6A9F8DEE4B}"/>
              </a:ext>
            </a:extLst>
          </p:cNvPr>
          <p:cNvCxnSpPr/>
          <p:nvPr/>
        </p:nvCxnSpPr>
        <p:spPr>
          <a:xfrm>
            <a:off x="7272450" y="3192534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3939289-2A51-716E-ED66-691C8C5F76AF}"/>
              </a:ext>
            </a:extLst>
          </p:cNvPr>
          <p:cNvSpPr txBox="1"/>
          <p:nvPr/>
        </p:nvSpPr>
        <p:spPr>
          <a:xfrm>
            <a:off x="6823481" y="3467652"/>
            <a:ext cx="897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16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32D3D4-8285-4F00-C0FB-F267B2609877}"/>
              </a:ext>
            </a:extLst>
          </p:cNvPr>
          <p:cNvCxnSpPr/>
          <p:nvPr/>
        </p:nvCxnSpPr>
        <p:spPr>
          <a:xfrm>
            <a:off x="8226761" y="3187932"/>
            <a:ext cx="0" cy="26670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53F45822-5FE4-49F9-9DB9-65266FE07084}"/>
              </a:ext>
            </a:extLst>
          </p:cNvPr>
          <p:cNvSpPr txBox="1"/>
          <p:nvPr/>
        </p:nvSpPr>
        <p:spPr>
          <a:xfrm>
            <a:off x="7777792" y="3463050"/>
            <a:ext cx="897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latin typeface="Helvetica Neue"/>
              </a:rPr>
              <a:t>Week 20</a:t>
            </a:r>
          </a:p>
        </p:txBody>
      </p:sp>
    </p:spTree>
    <p:extLst>
      <p:ext uri="{BB962C8B-B14F-4D97-AF65-F5344CB8AC3E}">
        <p14:creationId xmlns:p14="http://schemas.microsoft.com/office/powerpoint/2010/main" val="29653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569269" y="1896946"/>
            <a:ext cx="2193734" cy="1913477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Helvetica Neue"/>
                <a:cs typeface="Helvetica Neue"/>
              </a:rPr>
              <a:t>Ma</a:t>
            </a:r>
          </a:p>
        </p:txBody>
      </p:sp>
    </p:spTree>
    <p:extLst>
      <p:ext uri="{BB962C8B-B14F-4D97-AF65-F5344CB8AC3E}">
        <p14:creationId xmlns:p14="http://schemas.microsoft.com/office/powerpoint/2010/main" val="400622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569269" y="1896946"/>
            <a:ext cx="2193734" cy="1913477"/>
          </a:xfrm>
          <a:prstGeom prst="rect">
            <a:avLst/>
          </a:prstGeom>
          <a:solidFill>
            <a:srgbClr val="008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b="1" dirty="0">
                <a:latin typeface="Helvetica Neue"/>
                <a:cs typeface="Helvetica Neue"/>
              </a:rPr>
              <a:t>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5998" y="2085349"/>
            <a:ext cx="2541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1" dirty="0">
                <a:latin typeface="Helvetica Neue"/>
                <a:cs typeface="Helvetica Neue"/>
              </a:rPr>
              <a:t>r</a:t>
            </a:r>
            <a:r>
              <a:rPr lang="en-US" sz="9600" b="1" dirty="0">
                <a:latin typeface="Helvetica Neue"/>
                <a:cs typeface="Helvetica Neue"/>
              </a:rPr>
              <a:t>v</a:t>
            </a:r>
            <a:r>
              <a:rPr lang="en-US" sz="9600" b="1" dirty="0">
                <a:solidFill>
                  <a:srgbClr val="008000"/>
                </a:solidFill>
                <a:latin typeface="Helvetica Neue"/>
                <a:cs typeface="Helvetica Neue"/>
              </a:rPr>
              <a:t>e</a:t>
            </a:r>
            <a:r>
              <a:rPr lang="en-US" sz="9600" b="1" dirty="0">
                <a:latin typeface="Helvetica Neue"/>
                <a:cs typeface="Helvetica Neue"/>
              </a:rPr>
              <a:t>l</a:t>
            </a:r>
            <a:endParaRPr lang="en-US" sz="9600" b="1" i="1" dirty="0">
              <a:latin typeface="Helvetica Neue"/>
              <a:cs typeface="Helvetica Neue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485460" y="4031173"/>
            <a:ext cx="5625896" cy="748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M</a:t>
            </a:r>
            <a:r>
              <a:rPr lang="en-US" sz="3200" b="1" baseline="30000" dirty="0">
                <a:latin typeface="Helvetica Neue"/>
                <a:cs typeface="Helvetica Neue"/>
              </a:rPr>
              <a:t>itochondrial </a:t>
            </a:r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A</a:t>
            </a:r>
            <a:r>
              <a:rPr lang="en-US" sz="3200" b="1" baseline="30000" dirty="0">
                <a:latin typeface="Helvetica Neue"/>
                <a:cs typeface="Helvetica Neue"/>
              </a:rPr>
              <a:t>nti-oxidant therapy to </a:t>
            </a:r>
          </a:p>
          <a:p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R</a:t>
            </a:r>
            <a:r>
              <a:rPr lang="en-US" sz="3200" b="1" baseline="30000" dirty="0">
                <a:latin typeface="Helvetica Neue"/>
                <a:cs typeface="Helvetica Neue"/>
              </a:rPr>
              <a:t>esol</a:t>
            </a:r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ve</a:t>
            </a:r>
            <a:r>
              <a:rPr lang="en-US" sz="3200" b="1" baseline="30000" dirty="0">
                <a:latin typeface="Helvetica Neue"/>
                <a:cs typeface="Helvetica Neue"/>
              </a:rPr>
              <a:t> Inflammation in U</a:t>
            </a:r>
            <a:r>
              <a:rPr lang="en-US" sz="3200" b="1" baseline="30000" dirty="0">
                <a:solidFill>
                  <a:srgbClr val="008000"/>
                </a:solidFill>
                <a:latin typeface="Helvetica Neue"/>
                <a:cs typeface="Helvetica Neue"/>
              </a:rPr>
              <a:t>l</a:t>
            </a:r>
            <a:r>
              <a:rPr lang="en-US" sz="3200" b="1" baseline="30000" dirty="0">
                <a:latin typeface="Helvetica Neue"/>
                <a:cs typeface="Helvetica Neue"/>
              </a:rPr>
              <a:t>cerative Colitis </a:t>
            </a:r>
          </a:p>
        </p:txBody>
      </p:sp>
    </p:spTree>
    <p:extLst>
      <p:ext uri="{BB962C8B-B14F-4D97-AF65-F5344CB8AC3E}">
        <p14:creationId xmlns:p14="http://schemas.microsoft.com/office/powerpoint/2010/main" val="2379265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12023</TotalTime>
  <Words>140</Words>
  <Application>Microsoft Macintosh PowerPoint</Application>
  <PresentationFormat>Widescreen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Helvetica Neue</vt:lpstr>
      <vt:lpstr>Kristen ITC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Edinburgh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Gwo-Tzer Ho</dc:creator>
  <cp:lastModifiedBy>Shaun Chuah</cp:lastModifiedBy>
  <cp:revision>45</cp:revision>
  <dcterms:created xsi:type="dcterms:W3CDTF">2019-02-23T08:14:54Z</dcterms:created>
  <dcterms:modified xsi:type="dcterms:W3CDTF">2025-08-12T14:45:05Z</dcterms:modified>
</cp:coreProperties>
</file>